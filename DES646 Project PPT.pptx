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7" r:id="rId1"/>
  </p:sldMasterIdLst>
  <p:sldIdLst>
    <p:sldId id="268" r:id="rId2"/>
    <p:sldId id="257" r:id="rId3"/>
    <p:sldId id="258" r:id="rId4"/>
    <p:sldId id="260" r:id="rId5"/>
    <p:sldId id="263" r:id="rId6"/>
    <p:sldId id="264" r:id="rId7"/>
    <p:sldId id="265" r:id="rId8"/>
    <p:sldId id="261" r:id="rId9"/>
    <p:sldId id="262" r:id="rId10"/>
    <p:sldId id="259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EE5D3-ABD2-49A8-D1B5-5D2EDC523D66}" v="115" dt="2025-11-21T18:36:20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505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15966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96864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1261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2546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747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18127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4096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1550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8789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703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79122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9902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77619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70470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92921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36729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EBC13A9-5FC1-4B80-8110-E978484E8C27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EC927EB-20B4-4CB8-96C3-29728E9B4A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0889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4DE77-0A9B-AA6D-5890-69E45F344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96AB22-C369-5465-3546-167B0E47AEB1}"/>
              </a:ext>
            </a:extLst>
          </p:cNvPr>
          <p:cNvSpPr txBox="1"/>
          <p:nvPr/>
        </p:nvSpPr>
        <p:spPr>
          <a:xfrm>
            <a:off x="1102496" y="1364492"/>
            <a:ext cx="9987007" cy="41290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5400" kern="100" dirty="0">
                <a:effectLst/>
                <a:latin typeface="Calibri"/>
                <a:ea typeface="Calibri"/>
                <a:cs typeface="Arial"/>
              </a:rPr>
              <a:t>DES646 </a:t>
            </a:r>
            <a:r>
              <a:rPr lang="en-IN" sz="5400" kern="100" dirty="0">
                <a:latin typeface="Calibri"/>
                <a:ea typeface="Calibri"/>
                <a:cs typeface="Arial"/>
              </a:rPr>
              <a:t>Project: </a:t>
            </a:r>
            <a:br>
              <a:rPr lang="en-IN" sz="5400" kern="100" dirty="0">
                <a:ea typeface="+mn-lt"/>
                <a:cs typeface="Arial"/>
              </a:rPr>
            </a:br>
            <a:r>
              <a:rPr lang="en-IN" sz="5400" kern="100" dirty="0">
                <a:ea typeface="+mn-lt"/>
                <a:cs typeface="+mn-lt"/>
              </a:rPr>
              <a:t>Deepfake Guard - </a:t>
            </a:r>
            <a:r>
              <a:rPr lang="en-IN" sz="5400" kern="100" dirty="0" err="1">
                <a:ea typeface="+mn-lt"/>
                <a:cs typeface="+mn-lt"/>
              </a:rPr>
              <a:t>rPPG</a:t>
            </a:r>
            <a:r>
              <a:rPr lang="en-IN" sz="5400" kern="100" dirty="0">
                <a:ea typeface="+mn-lt"/>
                <a:cs typeface="+mn-lt"/>
              </a:rPr>
              <a:t>-Driven Deepfake Detection System</a:t>
            </a:r>
            <a:endParaRPr lang="en-IN" sz="5400" kern="100" dirty="0">
              <a:effectLst/>
              <a:ea typeface="+mn-lt"/>
              <a:cs typeface="+mn-lt"/>
            </a:endParaRPr>
          </a:p>
          <a:p>
            <a:pPr marL="685800" indent="-685800" algn="ctr">
              <a:lnSpc>
                <a:spcPct val="107000"/>
              </a:lnSpc>
              <a:spcAft>
                <a:spcPts val="800"/>
              </a:spcAft>
              <a:buFont typeface="Calibri"/>
              <a:buChar char="-"/>
            </a:pPr>
            <a:r>
              <a:rPr lang="en-IN" sz="5400" kern="100" dirty="0">
                <a:latin typeface="Calibri"/>
                <a:ea typeface="Calibri"/>
                <a:cs typeface="Calibri"/>
              </a:rPr>
              <a:t>Group </a:t>
            </a:r>
            <a:r>
              <a:rPr lang="en-IN" sz="5400" kern="100" dirty="0" err="1">
                <a:latin typeface="Calibri"/>
                <a:ea typeface="Calibri"/>
                <a:cs typeface="Calibri"/>
              </a:rPr>
              <a:t>GaurNitai</a:t>
            </a:r>
            <a:endParaRPr lang="en-IN" sz="5400" kern="100" dirty="0" err="1">
              <a:effectLst/>
              <a:latin typeface="Calibri" panose="020F0502020204030204" pitchFamily="34" charset="0"/>
              <a:ea typeface="Calibri" panose="020F0502020204030204" pitchFamily="34" charset="0"/>
              <a:cs typeface="Calibri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dirty="0">
              <a:solidFill>
                <a:srgbClr val="FFFFFF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red and white logo&#10;&#10;AI-generated content may be incorrect.">
            <a:extLst>
              <a:ext uri="{FF2B5EF4-FFF2-40B4-BE49-F238E27FC236}">
                <a16:creationId xmlns:a16="http://schemas.microsoft.com/office/drawing/2014/main" id="{7B8A8152-A3FA-3929-5DDC-E0485CBDC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28" y="140069"/>
            <a:ext cx="829458" cy="76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07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110EA-1EBF-D844-10D4-55599C3BC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76BB95-D5A8-6DC8-7FEA-D5248BEB8C5F}"/>
              </a:ext>
            </a:extLst>
          </p:cNvPr>
          <p:cNvSpPr txBox="1"/>
          <p:nvPr/>
        </p:nvSpPr>
        <p:spPr>
          <a:xfrm>
            <a:off x="1073768" y="525189"/>
            <a:ext cx="6093500" cy="848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kern="1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3600" b="1" kern="1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Team</a:t>
            </a:r>
            <a:r>
              <a:rPr lang="en-IN" sz="3600" kern="1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IN" sz="3600" i="1" kern="10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GaurNitai</a:t>
            </a:r>
            <a:endParaRPr lang="en-IN" sz="3600" i="1" kern="1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sz="3600" kern="1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3600" b="1" kern="1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Team members</a:t>
            </a:r>
            <a:r>
              <a:rPr lang="en-IN" sz="3600" kern="1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AutoNum type="arabicParenR"/>
            </a:pPr>
            <a:r>
              <a:rPr lang="en-IN" sz="3600" kern="1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Bhavya Garg (220296)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3600" kern="1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2)Sachin </a:t>
            </a:r>
            <a:r>
              <a:rPr lang="en-IN" sz="3600" kern="10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</a:t>
            </a:r>
            <a:r>
              <a:rPr lang="en-IN" sz="3600" kern="10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umhar</a:t>
            </a:r>
            <a:r>
              <a:rPr lang="en-IN" sz="3600" kern="1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(230891)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3600" kern="1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3)Himesh(240456)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3600" kern="1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4)Abhinav Singhal(210031)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3600" kern="1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5)Chevva Praneeth(240306)</a:t>
            </a:r>
            <a:endParaRPr lang="en-IN" sz="3600" kern="10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sz="3600" kern="10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indent="-742950" algn="just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</a:pPr>
            <a:endParaRPr lang="en-IN" sz="3600" kern="10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indent="-742950" algn="just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</a:pPr>
            <a:endParaRPr lang="en-IN" sz="4000" kern="100"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red and white logo&#10;&#10;AI-generated content may be incorrect.">
            <a:extLst>
              <a:ext uri="{FF2B5EF4-FFF2-40B4-BE49-F238E27FC236}">
                <a16:creationId xmlns:a16="http://schemas.microsoft.com/office/drawing/2014/main" id="{CF834556-898A-AF47-2EAE-6FE23B962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28" y="140069"/>
            <a:ext cx="829458" cy="76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08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AA0D-F894-4A7D-DDD6-70077C0EE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B0BF74-6BFA-EDB9-60BF-DEECA5F65087}"/>
              </a:ext>
            </a:extLst>
          </p:cNvPr>
          <p:cNvSpPr txBox="1"/>
          <p:nvPr/>
        </p:nvSpPr>
        <p:spPr>
          <a:xfrm>
            <a:off x="234835" y="1309511"/>
            <a:ext cx="11367911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600"/>
              <a:t>1. Project Overview &amp; Motivation</a:t>
            </a:r>
          </a:p>
          <a:p>
            <a:endParaRPr lang="en-IN" sz="3600" i="1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7C0EAF-BA2B-3E86-CC47-4020355667C0}"/>
              </a:ext>
            </a:extLst>
          </p:cNvPr>
          <p:cNvSpPr txBox="1"/>
          <p:nvPr/>
        </p:nvSpPr>
        <p:spPr>
          <a:xfrm>
            <a:off x="237067" y="2276507"/>
            <a:ext cx="11133739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>
                <a:latin typeface="Calibri"/>
                <a:ea typeface="Cambria"/>
                <a:cs typeface="Calibri"/>
              </a:rPr>
              <a:t>With the rapid advancement of AI-generated media, deepfake videos have emerged as a major threat to digital authenticity and information integrity. Deepfake Guard aims to detect and prevent synthetic manipulations in video content through a combination of advanced computer vision, biometric pattern recognition, and behavioral analysis. Our objective is to develop a system that can identify manipulated facial, audio, and environmental cues with high precision.</a:t>
            </a:r>
            <a:endParaRPr lang="en-US" sz="3200">
              <a:latin typeface="Calibri"/>
              <a:ea typeface="Calibri"/>
              <a:cs typeface="Calibri"/>
            </a:endParaRPr>
          </a:p>
          <a:p>
            <a:br>
              <a:rPr lang="en-IN" sz="3200"/>
            </a:br>
            <a:endParaRPr lang="en-IN" sz="3200"/>
          </a:p>
          <a:p>
            <a:endParaRPr lang="en-US" sz="3200"/>
          </a:p>
        </p:txBody>
      </p:sp>
      <p:pic>
        <p:nvPicPr>
          <p:cNvPr id="10" name="Picture 9" descr="A red and white logo&#10;&#10;AI-generated content may be incorrect.">
            <a:extLst>
              <a:ext uri="{FF2B5EF4-FFF2-40B4-BE49-F238E27FC236}">
                <a16:creationId xmlns:a16="http://schemas.microsoft.com/office/drawing/2014/main" id="{B6F10DEE-D027-D04D-A1D0-CA9E6A37F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28" y="140069"/>
            <a:ext cx="829458" cy="76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83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6ED35-8F77-7907-F81B-E75EA0591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13EA7F-54E8-88EE-4A8A-42A639BA79C1}"/>
              </a:ext>
            </a:extLst>
          </p:cNvPr>
          <p:cNvSpPr txBox="1"/>
          <p:nvPr/>
        </p:nvSpPr>
        <p:spPr>
          <a:xfrm>
            <a:off x="375040" y="843482"/>
            <a:ext cx="9762382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600"/>
              <a:t>2. System Design</a:t>
            </a:r>
          </a:p>
          <a:p>
            <a:endParaRPr lang="en-IN" sz="3600" b="1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E237FF-9C48-CA31-4F2F-B06A4AB7259C}"/>
              </a:ext>
            </a:extLst>
          </p:cNvPr>
          <p:cNvSpPr txBox="1"/>
          <p:nvPr/>
        </p:nvSpPr>
        <p:spPr>
          <a:xfrm>
            <a:off x="257347" y="1445978"/>
            <a:ext cx="11444832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The system, named Deepfake Guard, employs a multi-layered detection framework integrating three core modules:</a:t>
            </a:r>
            <a:endParaRPr lang="en-US" sz="2400"/>
          </a:p>
          <a:p>
            <a:endParaRPr lang="en-US" sz="2400">
              <a:ea typeface="Calibri"/>
              <a:cs typeface="Calibri"/>
            </a:endParaRPr>
          </a:p>
          <a:p>
            <a:endParaRPr lang="en-US" sz="2400">
              <a:ea typeface="+mn-lt"/>
              <a:cs typeface="+mn-lt"/>
            </a:endParaRPr>
          </a:p>
          <a:p>
            <a:endParaRPr lang="en-US" sz="2400">
              <a:ea typeface="Calibri" panose="020F0502020204030204"/>
              <a:cs typeface="Calibri" panose="020F0502020204030204"/>
            </a:endParaRPr>
          </a:p>
          <a:p>
            <a:endParaRPr lang="en-US" sz="2400">
              <a:ea typeface="+mn-lt"/>
              <a:cs typeface="+mn-lt"/>
            </a:endParaRPr>
          </a:p>
          <a:p>
            <a:endParaRPr lang="en-US" sz="2400">
              <a:ea typeface="Calibri" panose="020F0502020204030204"/>
              <a:cs typeface="Calibri" panose="020F0502020204030204"/>
            </a:endParaRPr>
          </a:p>
          <a:p>
            <a:endParaRPr lang="en-US" sz="2400" b="1" i="1">
              <a:ea typeface="Calibri"/>
              <a:cs typeface="Calibri"/>
            </a:endParaRPr>
          </a:p>
          <a:p>
            <a:endParaRPr lang="en-IN" sz="24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FA0C14-58E1-61C8-14D4-B83248970B20}"/>
              </a:ext>
            </a:extLst>
          </p:cNvPr>
          <p:cNvCxnSpPr/>
          <p:nvPr/>
        </p:nvCxnSpPr>
        <p:spPr>
          <a:xfrm>
            <a:off x="6942667" y="1844699"/>
            <a:ext cx="0" cy="4725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A8EB2B4-CB74-03F9-F351-F4660B718ADD}"/>
              </a:ext>
            </a:extLst>
          </p:cNvPr>
          <p:cNvSpPr txBox="1"/>
          <p:nvPr/>
        </p:nvSpPr>
        <p:spPr>
          <a:xfrm>
            <a:off x="256400" y="5263669"/>
            <a:ext cx="1165682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3. Trust Score Engine: Calculates an authenticity score for every video frame sequence. Based on this score, the system can flag potential deepfakes, request re-verification, or mark the content as authentic.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1308B7-23DE-5D17-5A06-49299B7628B4}"/>
              </a:ext>
            </a:extLst>
          </p:cNvPr>
          <p:cNvSpPr txBox="1"/>
          <p:nvPr/>
        </p:nvSpPr>
        <p:spPr>
          <a:xfrm>
            <a:off x="379339" y="3965888"/>
            <a:ext cx="1145303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2. Ensemble Detection Model: A combination of facial landmark tracking, lip-audio coherence analysis, and environmental consistency checks to detect possible manipulations.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DFAE48-6020-9573-0CA6-6868FAA49DC6}"/>
              </a:ext>
            </a:extLst>
          </p:cNvPr>
          <p:cNvSpPr txBox="1"/>
          <p:nvPr/>
        </p:nvSpPr>
        <p:spPr>
          <a:xfrm>
            <a:off x="256677" y="2241142"/>
            <a:ext cx="1155936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Calibri"/>
                <a:cs typeface="Calibri"/>
              </a:rPr>
              <a:t>1. Dynamic Biometric Interrogation (DBI): Randomized prompts such as 'say a random number while turning your head' are used to analyze real-time facial expression, lip-sync, and attention cues. This unpredictability makes it extremely difficult for deepfake models to generate appropriate responses in real time.</a:t>
            </a:r>
            <a:endParaRPr lang="en-US"/>
          </a:p>
        </p:txBody>
      </p:sp>
      <p:pic>
        <p:nvPicPr>
          <p:cNvPr id="14" name="Picture 13" descr="A red and white logo&#10;&#10;AI-generated content may be incorrect.">
            <a:extLst>
              <a:ext uri="{FF2B5EF4-FFF2-40B4-BE49-F238E27FC236}">
                <a16:creationId xmlns:a16="http://schemas.microsoft.com/office/drawing/2014/main" id="{7A002653-477B-C321-E0F0-77FFBC7DF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28" y="140069"/>
            <a:ext cx="829458" cy="76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58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EDC9-ACD3-B373-9458-C651D89A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0C49D0-645F-9C8C-2AA3-B4C5709C6416}"/>
              </a:ext>
            </a:extLst>
          </p:cNvPr>
          <p:cNvSpPr txBox="1"/>
          <p:nvPr/>
        </p:nvSpPr>
        <p:spPr>
          <a:xfrm>
            <a:off x="242120" y="1094732"/>
            <a:ext cx="11645586" cy="11960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3600"/>
              <a:t>3. Research Process &amp; Development Journey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sz="3600" b="1" kern="10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93F000-8940-F58C-C1F7-F000D3AB1711}"/>
              </a:ext>
            </a:extLst>
          </p:cNvPr>
          <p:cNvSpPr txBox="1"/>
          <p:nvPr/>
        </p:nvSpPr>
        <p:spPr>
          <a:xfrm>
            <a:off x="240873" y="1821187"/>
            <a:ext cx="9873494" cy="32316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Our journey began with a survey of existing deepfake detection models and datasets. We analyzed methods based on convolutional neural networks (CNNs), vision transformers (ViTs), and multimodal approaches combining audio-visual features. We also explored human-centric signals such as micro-expressions and motion prediction errors inspired by cognitive science, leading to the inclusion of the 'Uncanny Valley' hypothesis as part of our detection logic.</a:t>
            </a:r>
            <a:endParaRPr lang="en-US" sz="2400"/>
          </a:p>
          <a:p>
            <a:endParaRPr lang="en-IN" b="1">
              <a:ea typeface="Calibri"/>
              <a:cs typeface="Calibri"/>
            </a:endParaRPr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5B9196-D702-6F41-81BE-816DD2C489BE}"/>
              </a:ext>
            </a:extLst>
          </p:cNvPr>
          <p:cNvSpPr txBox="1"/>
          <p:nvPr/>
        </p:nvSpPr>
        <p:spPr>
          <a:xfrm>
            <a:off x="237018" y="4463182"/>
            <a:ext cx="1131126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mbria"/>
                <a:ea typeface="Cambria"/>
              </a:rPr>
              <a:t>As an interdisciplinary team from different academic years, we integrated ideas from machine learning, behavioral science, and visual computing to create a conceptually strong framework. The prototype focuses on algorithmic experimentation and simulation-based testing using publicly available deepfake datasets</a:t>
            </a:r>
            <a:endParaRPr lang="en-US" sz="2400"/>
          </a:p>
        </p:txBody>
      </p:sp>
      <p:pic>
        <p:nvPicPr>
          <p:cNvPr id="4" name="Picture 3" descr="A red and white logo&#10;&#10;AI-generated content may be incorrect.">
            <a:extLst>
              <a:ext uri="{FF2B5EF4-FFF2-40B4-BE49-F238E27FC236}">
                <a16:creationId xmlns:a16="http://schemas.microsoft.com/office/drawing/2014/main" id="{926D77CF-F5F3-09B1-1605-6380606D4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28" y="140069"/>
            <a:ext cx="829458" cy="76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23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BD4BF-78D3-87E4-6216-4AD7D5871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268BA3-7EBF-0FA3-192F-5FD739EFA6A0}"/>
              </a:ext>
            </a:extLst>
          </p:cNvPr>
          <p:cNvSpPr txBox="1"/>
          <p:nvPr/>
        </p:nvSpPr>
        <p:spPr>
          <a:xfrm>
            <a:off x="315615" y="1079302"/>
            <a:ext cx="11216693" cy="11960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3600"/>
              <a:t>4. Role of Course, Mentorship &amp; Resources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sz="3600" b="1" kern="10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ADD39C-D116-12CF-696C-4340E8617C0F}"/>
              </a:ext>
            </a:extLst>
          </p:cNvPr>
          <p:cNvSpPr txBox="1"/>
          <p:nvPr/>
        </p:nvSpPr>
        <p:spPr>
          <a:xfrm>
            <a:off x="311335" y="1902896"/>
            <a:ext cx="11564844" cy="30558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Cambria"/>
                <a:ea typeface="Cambria"/>
              </a:rPr>
              <a:t>This project was developed as part of our course-based AI/ML project work at IIT Kanpur. The course structure, mentorship, and feedback provided by faculty and peers were invaluable in guiding our research direction. We leveraged open-source tools like TensorFlow, PyTorch, OpenCV, and dlib for feature extraction and model training.</a:t>
            </a:r>
            <a:endParaRPr lang="en-US" sz="3200"/>
          </a:p>
        </p:txBody>
      </p:sp>
      <p:pic>
        <p:nvPicPr>
          <p:cNvPr id="4" name="Picture 3" descr="A red and white logo&#10;&#10;AI-generated content may be incorrect.">
            <a:extLst>
              <a:ext uri="{FF2B5EF4-FFF2-40B4-BE49-F238E27FC236}">
                <a16:creationId xmlns:a16="http://schemas.microsoft.com/office/drawing/2014/main" id="{DEB37ACE-8211-AD0A-1792-2FA15F88E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28" y="140069"/>
            <a:ext cx="829458" cy="76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72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76714-4C0B-30F4-2551-DF0D1583C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7CBD4F-8F74-F4A0-9480-FBEBBE9F8F1F}"/>
              </a:ext>
            </a:extLst>
          </p:cNvPr>
          <p:cNvSpPr txBox="1"/>
          <p:nvPr/>
        </p:nvSpPr>
        <p:spPr>
          <a:xfrm>
            <a:off x="419100" y="1247775"/>
            <a:ext cx="108775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/>
              <a:t>5. Learnings, Results &amp; Future Work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9F421-2C56-8B6A-22AA-B011BB1AC45C}"/>
              </a:ext>
            </a:extLst>
          </p:cNvPr>
          <p:cNvSpPr txBox="1"/>
          <p:nvPr/>
        </p:nvSpPr>
        <p:spPr>
          <a:xfrm>
            <a:off x="419100" y="1971675"/>
            <a:ext cx="11877675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Key Learnings:</a:t>
            </a:r>
            <a:br>
              <a:rPr lang="en-US" sz="2400"/>
            </a:br>
            <a:r>
              <a:rPr lang="en-US" sz="2400"/>
              <a:t>• Deepfake detection benefits from combining machine learning with behavioral and biological cues.</a:t>
            </a:r>
            <a:br>
              <a:rPr lang="en-US" sz="2400"/>
            </a:br>
            <a:r>
              <a:rPr lang="en-US" sz="2400"/>
              <a:t>• Interdisciplinary research enhances both accuracy and interpretability of AI models.</a:t>
            </a:r>
            <a:br>
              <a:rPr lang="en-US" sz="2400"/>
            </a:br>
            <a:r>
              <a:rPr lang="en-US" sz="2400"/>
              <a:t>• Real-world data collection and controlled testing are critical for robust evaluation.</a:t>
            </a: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A28A8-F471-DDFD-3220-11A3139C6CFB}"/>
              </a:ext>
            </a:extLst>
          </p:cNvPr>
          <p:cNvSpPr txBox="1"/>
          <p:nvPr/>
        </p:nvSpPr>
        <p:spPr>
          <a:xfrm>
            <a:off x="419100" y="4086225"/>
            <a:ext cx="10544175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Results &amp; Future Work:</a:t>
            </a:r>
            <a:br>
              <a:rPr lang="en-US" sz="2400"/>
            </a:br>
            <a:r>
              <a:rPr lang="en-US" sz="2400"/>
              <a:t>• Prototype achieved promising preliminary results in distinguishing authentic vs. manipulated frames.</a:t>
            </a:r>
            <a:br>
              <a:rPr lang="en-US" sz="2400"/>
            </a:br>
            <a:r>
              <a:rPr lang="en-US" sz="2400"/>
              <a:t>• Future work involves extending the system to handle audio-based deepfakes, improving temporal coherence modeling, and integrating our trust scoring framework into a real-time video authentication tool.</a:t>
            </a:r>
          </a:p>
          <a:p>
            <a:pPr algn="ctr"/>
            <a:endParaRPr lang="en-US"/>
          </a:p>
        </p:txBody>
      </p:sp>
      <p:pic>
        <p:nvPicPr>
          <p:cNvPr id="8" name="Picture 7" descr="A red and white logo&#10;&#10;AI-generated content may be incorrect.">
            <a:extLst>
              <a:ext uri="{FF2B5EF4-FFF2-40B4-BE49-F238E27FC236}">
                <a16:creationId xmlns:a16="http://schemas.microsoft.com/office/drawing/2014/main" id="{62C3070B-33D2-A9FA-7411-40D9CB1B7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28" y="140069"/>
            <a:ext cx="829458" cy="76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7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17E80-C396-8B2C-C23A-51F3F6F76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0B780B-B527-A3AB-7951-CF3439C18C79}"/>
              </a:ext>
            </a:extLst>
          </p:cNvPr>
          <p:cNvSpPr txBox="1"/>
          <p:nvPr/>
        </p:nvSpPr>
        <p:spPr>
          <a:xfrm>
            <a:off x="345723" y="1224407"/>
            <a:ext cx="9505950" cy="101277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3600"/>
              <a:t>6. Closing Reflection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sz="2400" b="1" kern="10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995523-CABD-479E-BEDC-E777C7C8CEBF}"/>
              </a:ext>
            </a:extLst>
          </p:cNvPr>
          <p:cNvSpPr txBox="1"/>
          <p:nvPr/>
        </p:nvSpPr>
        <p:spPr>
          <a:xfrm>
            <a:off x="342900" y="1947862"/>
            <a:ext cx="1152525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Cambria"/>
                <a:ea typeface="Cambria"/>
              </a:rPr>
              <a:t>Deepfake Guard represents our collective step toward strengthening digital trust and authenticity. Through this project, we not only deepened our understanding of AI-driven forgery detection but also realized the importance of combining technical rigor with human-centric insight. Our ultimate goal is to contribute to the broader mission of responsible and secure AI applications in society.</a:t>
            </a:r>
            <a:endParaRPr lang="en-US" sz="3200"/>
          </a:p>
        </p:txBody>
      </p:sp>
      <p:pic>
        <p:nvPicPr>
          <p:cNvPr id="4" name="Picture 3" descr="A red and white logo&#10;&#10;AI-generated content may be incorrect.">
            <a:extLst>
              <a:ext uri="{FF2B5EF4-FFF2-40B4-BE49-F238E27FC236}">
                <a16:creationId xmlns:a16="http://schemas.microsoft.com/office/drawing/2014/main" id="{E4155E1A-EDEC-8596-C8D8-04832ED03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28" y="140069"/>
            <a:ext cx="829458" cy="76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2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B6B8A-A003-9A73-08DA-77C2E00A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F7284C-23BC-91D6-D62F-22AB6A759623}"/>
              </a:ext>
            </a:extLst>
          </p:cNvPr>
          <p:cNvSpPr txBox="1"/>
          <p:nvPr/>
        </p:nvSpPr>
        <p:spPr>
          <a:xfrm>
            <a:off x="4007175" y="1248635"/>
            <a:ext cx="4177650" cy="642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3600" b="1" kern="1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Technical Details: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02CFA5-DE58-7AAF-2D92-FEDD3F4D8953}"/>
              </a:ext>
            </a:extLst>
          </p:cNvPr>
          <p:cNvSpPr txBox="1"/>
          <p:nvPr/>
        </p:nvSpPr>
        <p:spPr>
          <a:xfrm>
            <a:off x="587022" y="2209705"/>
            <a:ext cx="46849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/>
              <a:t>Core Services (Microservices):</a:t>
            </a:r>
          </a:p>
          <a:p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DBI Engine: Real-time challenge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Biometric Processor: AI/ML analysis pipeline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Trust Score Calculator: Behavioural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Risk Assessment: Fraud detection algorithms</a:t>
            </a:r>
          </a:p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755A6-AA10-00BF-A66C-BB6637AEBEAF}"/>
              </a:ext>
            </a:extLst>
          </p:cNvPr>
          <p:cNvSpPr txBox="1"/>
          <p:nvPr/>
        </p:nvSpPr>
        <p:spPr>
          <a:xfrm>
            <a:off x="587022" y="4241030"/>
            <a:ext cx="48880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/>
              <a:t>Tech Stack:</a:t>
            </a:r>
          </a:p>
          <a:p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Computer Vision: OpenCV, </a:t>
            </a:r>
            <a:r>
              <a:rPr lang="en-IN" err="1"/>
              <a:t>MediaPipe</a:t>
            </a:r>
            <a:r>
              <a:rPr lang="en-IN"/>
              <a:t>, MTCNN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Deep Learning: TensorFlow, </a:t>
            </a:r>
            <a:r>
              <a:rPr lang="en-IN" err="1"/>
              <a:t>PyTorch</a:t>
            </a:r>
            <a:r>
              <a:rPr lang="en-IN"/>
              <a:t>, </a:t>
            </a:r>
            <a:r>
              <a:rPr lang="en-IN" err="1"/>
              <a:t>Keras</a:t>
            </a:r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Audio Processing: </a:t>
            </a:r>
            <a:r>
              <a:rPr lang="en-IN" err="1"/>
              <a:t>Librosa</a:t>
            </a:r>
            <a:r>
              <a:rPr lang="en-IN"/>
              <a:t>, </a:t>
            </a:r>
            <a:r>
              <a:rPr lang="en-IN" err="1"/>
              <a:t>PyAudio</a:t>
            </a:r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err="1"/>
              <a:t>Behavioral</a:t>
            </a:r>
            <a:r>
              <a:rPr lang="en-IN"/>
              <a:t> Analytics: scikit-learn, </a:t>
            </a:r>
            <a:r>
              <a:rPr lang="en-IN" err="1"/>
              <a:t>XGBoost</a:t>
            </a:r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Real-time Processing: Apache Kafka, Redis</a:t>
            </a:r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7EF724-65F4-6709-1F1A-A4E0E8A0F371}"/>
              </a:ext>
            </a:extLst>
          </p:cNvPr>
          <p:cNvSpPr txBox="1"/>
          <p:nvPr/>
        </p:nvSpPr>
        <p:spPr>
          <a:xfrm>
            <a:off x="7405754" y="2348204"/>
            <a:ext cx="37363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/>
              <a:t>User Experience: </a:t>
            </a:r>
          </a:p>
          <a:p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30-second onboarding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95% invisible security</a:t>
            </a:r>
          </a:p>
          <a:p>
            <a:br>
              <a:rPr lang="en-IN"/>
            </a:br>
            <a:endParaRPr lang="en-US"/>
          </a:p>
        </p:txBody>
      </p:sp>
      <p:pic>
        <p:nvPicPr>
          <p:cNvPr id="8" name="Picture 7" descr="A red and white logo&#10;&#10;AI-generated content may be incorrect.">
            <a:extLst>
              <a:ext uri="{FF2B5EF4-FFF2-40B4-BE49-F238E27FC236}">
                <a16:creationId xmlns:a16="http://schemas.microsoft.com/office/drawing/2014/main" id="{E42002F5-73BE-6566-5403-A57274022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28" y="140069"/>
            <a:ext cx="829458" cy="76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36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F9A17-ED49-A282-C136-D84A8D84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C48B08-98F8-1288-A8FB-77F14D467815}"/>
              </a:ext>
            </a:extLst>
          </p:cNvPr>
          <p:cNvSpPr txBox="1"/>
          <p:nvPr/>
        </p:nvSpPr>
        <p:spPr>
          <a:xfrm>
            <a:off x="489347" y="2669111"/>
            <a:ext cx="3639425" cy="1234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3600" b="1">
                <a:latin typeface="Arial" panose="020B0604020202020204" pitchFamily="34" charset="0"/>
                <a:cs typeface="Arial" panose="020B0604020202020204" pitchFamily="34" charset="0"/>
              </a:rPr>
              <a:t>CTS Calculation</a:t>
            </a:r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3D7D1BB-90A0-D945-F1F8-26499A275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32"/>
          <a:stretch>
            <a:fillRect/>
          </a:stretch>
        </p:blipFill>
        <p:spPr>
          <a:xfrm>
            <a:off x="4572000" y="1532650"/>
            <a:ext cx="7074905" cy="4742572"/>
          </a:xfrm>
          <a:prstGeom prst="rect">
            <a:avLst/>
          </a:prstGeom>
        </p:spPr>
      </p:pic>
      <p:pic>
        <p:nvPicPr>
          <p:cNvPr id="4" name="Picture 3" descr="A red and white logo&#10;&#10;AI-generated content may be incorrect.">
            <a:extLst>
              <a:ext uri="{FF2B5EF4-FFF2-40B4-BE49-F238E27FC236}">
                <a16:creationId xmlns:a16="http://schemas.microsoft.com/office/drawing/2014/main" id="{664CBB51-FD78-0117-D3D8-4CA60EE04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28" y="140069"/>
            <a:ext cx="829458" cy="76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041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BC784-54EF-89CC-79E7-A34C664A7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4B53DE-F7B9-626E-7AF1-AC854CFB0436}"/>
              </a:ext>
            </a:extLst>
          </p:cNvPr>
          <p:cNvSpPr txBox="1"/>
          <p:nvPr/>
        </p:nvSpPr>
        <p:spPr>
          <a:xfrm>
            <a:off x="2733243" y="1635539"/>
            <a:ext cx="6354313" cy="642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3600" b="1">
                <a:latin typeface="Arial" panose="020B0604020202020204" pitchFamily="34" charset="0"/>
                <a:cs typeface="Arial" panose="020B0604020202020204" pitchFamily="34" charset="0"/>
              </a:rPr>
              <a:t>Deepfake Detection Pipeline</a:t>
            </a:r>
          </a:p>
        </p:txBody>
      </p:sp>
      <p:pic>
        <p:nvPicPr>
          <p:cNvPr id="13" name="Picture 1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6362AF6-9872-5CB2-47B0-6FF1A34F7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34" y="2642919"/>
            <a:ext cx="10030178" cy="3592075"/>
          </a:xfrm>
          <a:prstGeom prst="rect">
            <a:avLst/>
          </a:prstGeom>
        </p:spPr>
      </p:pic>
      <p:pic>
        <p:nvPicPr>
          <p:cNvPr id="3" name="Picture 2" descr="A red and white logo&#10;&#10;AI-generated content may be incorrect.">
            <a:extLst>
              <a:ext uri="{FF2B5EF4-FFF2-40B4-BE49-F238E27FC236}">
                <a16:creationId xmlns:a16="http://schemas.microsoft.com/office/drawing/2014/main" id="{1CF562AB-0245-01BD-6A07-2ECE48533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28" y="140069"/>
            <a:ext cx="829458" cy="76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60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CEB06-E1EB-A64D-4F8F-630844753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D1D041-59A3-F1CF-B3D9-3ADB4A41EF3B}"/>
              </a:ext>
            </a:extLst>
          </p:cNvPr>
          <p:cNvSpPr txBox="1"/>
          <p:nvPr/>
        </p:nvSpPr>
        <p:spPr>
          <a:xfrm>
            <a:off x="4653114" y="1056723"/>
            <a:ext cx="2063229" cy="580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3200" b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76FFB2-3FB0-C9B3-464D-22E9CF203FF6}"/>
              </a:ext>
            </a:extLst>
          </p:cNvPr>
          <p:cNvSpPr txBox="1"/>
          <p:nvPr/>
        </p:nvSpPr>
        <p:spPr>
          <a:xfrm>
            <a:off x="699911" y="1873955"/>
            <a:ext cx="10950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/>
              <a:t>TrustNet 360° is a two-part revolutionary system combining Bio-Metric Genesis (un-</a:t>
            </a:r>
            <a:r>
              <a:rPr lang="en-IN" i="1" err="1"/>
              <a:t>spoofable</a:t>
            </a:r>
            <a:r>
              <a:rPr lang="en-IN" i="1"/>
              <a:t> VKYC) with Continuous Trust Assurance (real-time monitoring) to create an unbreakable chain of digital identity trust.</a:t>
            </a:r>
            <a:endParaRPr lang="en-US" i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59E0FB-6035-5513-C08F-481728EF545B}"/>
              </a:ext>
            </a:extLst>
          </p:cNvPr>
          <p:cNvSpPr txBox="1"/>
          <p:nvPr/>
        </p:nvSpPr>
        <p:spPr>
          <a:xfrm>
            <a:off x="214489" y="2901244"/>
            <a:ext cx="58815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/>
              <a:t>Key innovations:</a:t>
            </a:r>
            <a:br>
              <a:rPr lang="en-IN" i="1"/>
            </a:br>
            <a:endParaRPr lang="en-IN" i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/>
              <a:t>Dynamic Biometric Interrogation (DBI): </a:t>
            </a:r>
            <a:r>
              <a:rPr lang="en-IN"/>
              <a:t>Real-time, unpredictable challenges that synthetic media cannot replicate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/>
              <a:t>Multi-Modal Authentication</a:t>
            </a:r>
            <a:r>
              <a:rPr lang="en-IN"/>
              <a:t>: Heartbeat analysis, micro-expressions, eye tracking, environmental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/>
              <a:t>Continuous Trust Score (CTS): </a:t>
            </a:r>
            <a:r>
              <a:rPr lang="en-IN"/>
              <a:t>0-100 real-time risk assessment with adaptive security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/>
              <a:t>Digital DNA</a:t>
            </a:r>
            <a:r>
              <a:rPr lang="en-IN"/>
              <a:t>: Unique, encrypted identity signature combining biological and behavioural patterns</a:t>
            </a:r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F8B710-2BBE-B161-F433-2768E63F8658}"/>
              </a:ext>
            </a:extLst>
          </p:cNvPr>
          <p:cNvSpPr txBox="1"/>
          <p:nvPr/>
        </p:nvSpPr>
        <p:spPr>
          <a:xfrm>
            <a:off x="7145867" y="3039743"/>
            <a:ext cx="43913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/>
              <a:t>Business Impact:</a:t>
            </a:r>
          </a:p>
          <a:p>
            <a:endParaRPr lang="en-I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Market: $15B identity verification industry with 22% CAGR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ROI for </a:t>
            </a:r>
            <a:r>
              <a:rPr lang="en-IN" err="1"/>
              <a:t>BoB</a:t>
            </a:r>
            <a:r>
              <a:rPr lang="en-IN"/>
              <a:t>: 99.5% reduction in deepfake attacks, $50M annual fraud savings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Scalability: B2B SaaS platform serving global financial institutions</a:t>
            </a:r>
          </a:p>
          <a:p>
            <a:endParaRPr lang="en-US"/>
          </a:p>
        </p:txBody>
      </p:sp>
      <p:pic>
        <p:nvPicPr>
          <p:cNvPr id="8" name="Picture 7" descr="A red and white logo&#10;&#10;AI-generated content may be incorrect.">
            <a:extLst>
              <a:ext uri="{FF2B5EF4-FFF2-40B4-BE49-F238E27FC236}">
                <a16:creationId xmlns:a16="http://schemas.microsoft.com/office/drawing/2014/main" id="{5481F045-A2BE-C191-C061-31CCFAED5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28" y="140069"/>
            <a:ext cx="829458" cy="76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355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Metadata/LabelInfo.xml><?xml version="1.0" encoding="utf-8"?>
<clbl:labelList xmlns:clbl="http://schemas.microsoft.com/office/2020/mipLabelMetadata">
  <clbl:label id="{7940507a-f9c6-42bd-9964-1d46f7f2ca82}" enabled="1" method="Standard" siteId="{be73ba9d-1d9a-4698-b9ae-6d5eab36e08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0</TotalTime>
  <Words>844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Bank Of Baroda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Reeta  Choudhary</dc:creator>
  <cp:lastModifiedBy>Abhinav Singhal</cp:lastModifiedBy>
  <cp:revision>20</cp:revision>
  <dcterms:created xsi:type="dcterms:W3CDTF">2025-08-28T04:37:57Z</dcterms:created>
  <dcterms:modified xsi:type="dcterms:W3CDTF">2025-11-21T18:37:41Z</dcterms:modified>
</cp:coreProperties>
</file>